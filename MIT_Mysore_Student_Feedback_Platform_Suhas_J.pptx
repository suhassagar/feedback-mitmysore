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371600" cy="137160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4008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685800"/>
            <a:ext cx="743681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MAHARAJA INSTITUTE OF TECHNOLOGY MYSORE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2563EB"/>
                </a:solidFill>
                <a:latin typeface="Segoe UI"/>
              </a:defRPr>
            </a:pPr>
            <a:r>
              <a:t>DEPARTMENT OF COMPUTER SCIENCE &amp; ENGINEERING</a:t>
            </a:r>
          </a:p>
          <a:p>
            <a:pPr algn="ctr"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Affiliated to VTU, Belagavi  •  Approved by AICTE, New Delhi  •  Accredited by NBA &amp; NAAC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0362895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594360" tIns="320040"/>
          <a:lstStyle/>
          <a:p>
            <a:pPr algn="ctr">
              <a:defRPr sz="1050" b="1">
                <a:solidFill>
                  <a:srgbClr val="EA580C"/>
                </a:solidFill>
                <a:latin typeface="Segoe UI"/>
              </a:defRPr>
            </a:pPr>
            <a:r>
              <a:t>ACADEMIC YEAR 2025 – 2026   |   MAJOR TECHNICAL CAPSTONE PROJECT</a:t>
            </a:r>
          </a:p>
          <a:p>
            <a:pPr>
              <a:spcBef>
                <a:spcPts val="6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Student Feedback &amp;</a:t>
            </a:r>
            <a:br/>
            <a:r>
              <a:t>Academic Intelligence Platform</a:t>
            </a:r>
          </a:p>
          <a:p>
            <a:pPr>
              <a:spcBef>
                <a:spcPts val="800"/>
              </a:spcBef>
              <a:defRPr sz="1250">
                <a:solidFill>
                  <a:srgbClr val="475569"/>
                </a:solidFill>
                <a:latin typeface="Calibri"/>
              </a:defRPr>
            </a:pPr>
            <a:r>
              <a:t>An enterprise-grade, cloud-native evaluation ecosystem featuring 100% cryptographic voter anonymity, real-time WebSocket monitoring, and Groq-powered SAGAR AI Copilot.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40280"/>
            <a:ext cx="103628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4983480"/>
            <a:ext cx="9174175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Presenter:  SUHAS J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Department of Computer Science &amp; Engineering   |   Maharaja Institute of Technology Mysore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Production Web Application: https://mitmysore.vercel.app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CONTEXT &amp; PROBLEM STATEMENT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The Institutional Dilemma: Why Legacy Feedback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347472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BOTTLENECK 01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Paper-Based Evaluation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Resource Drain: </a:t>
            </a:r>
            <a:r>
              <a:rPr b="0">
                <a:solidFill>
                  <a:srgbClr val="475569"/>
                </a:solidFill>
              </a:rPr>
              <a:t>Over 10,000+ sheets of paper printed every semester across departments.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Manual Collation: </a:t>
            </a:r>
            <a:r>
              <a:rPr b="0">
                <a:solidFill>
                  <a:srgbClr val="475569"/>
                </a:solidFill>
              </a:rPr>
              <a:t>Faculty &amp; staff spend weeks manually calculating averages on Excel.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Damaged Data: </a:t>
            </a:r>
            <a:r>
              <a:rPr b="0">
                <a:solidFill>
                  <a:srgbClr val="475569"/>
                </a:solidFill>
              </a:rPr>
              <a:t>High risk of lost, illegible, or tampered feedback sheets.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Zero Visibility: </a:t>
            </a:r>
            <a:r>
              <a:rPr b="0">
                <a:solidFill>
                  <a:srgbClr val="475569"/>
                </a:solidFill>
              </a:rPr>
              <a:t>HODs have no live feedback progress during active collection drives.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3840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536192"/>
            <a:ext cx="3474720" cy="38404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BOTTLENECK 02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Fear of Retaliation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Voter Fear: </a:t>
            </a:r>
            <a:r>
              <a:rPr b="0">
                <a:solidFill>
                  <a:srgbClr val="475569"/>
                </a:solidFill>
              </a:rPr>
              <a:t>Students fear negative feedback may impact their internal assessment marks.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Biased Ratings: </a:t>
            </a:r>
            <a:r>
              <a:rPr b="0">
                <a:solidFill>
                  <a:srgbClr val="475569"/>
                </a:solidFill>
              </a:rPr>
              <a:t>Fear results in artificially inflated scores or insincere 5-star ratings.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Flawed Tools: </a:t>
            </a:r>
            <a:r>
              <a:rPr b="0">
                <a:solidFill>
                  <a:srgbClr val="475569"/>
                </a:solidFill>
              </a:rPr>
              <a:t>Google Forms collect timestamps or emails, shattering student trust.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Unheard Issues: </a:t>
            </a:r>
            <a:r>
              <a:rPr b="0">
                <a:solidFill>
                  <a:srgbClr val="475569"/>
                </a:solidFill>
              </a:rPr>
              <a:t>Critical feedback on lab hardware and teaching pacing gets lost.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36192"/>
            <a:ext cx="73152" cy="3840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536192"/>
            <a:ext cx="347472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7C3AED"/>
                </a:solidFill>
                <a:latin typeface="Segoe UI"/>
              </a:defRPr>
            </a:pPr>
            <a:r>
              <a:t>BOTTLENECK 03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Accreditation Delays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NBA/NAAC Stress: </a:t>
            </a:r>
            <a:r>
              <a:rPr b="0">
                <a:solidFill>
                  <a:srgbClr val="475569"/>
                </a:solidFill>
              </a:rPr>
              <a:t>Compiling Course Outcome (CO) &amp; PO attainment feedback takes weeks.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Mismatched Data: </a:t>
            </a:r>
            <a:r>
              <a:rPr b="0">
                <a:solidFill>
                  <a:srgbClr val="475569"/>
                </a:solidFill>
              </a:rPr>
              <a:t>Manual spreadsheets rarely match NBA Criteria 10 formatting.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Delayed Intervention: </a:t>
            </a:r>
            <a:r>
              <a:rPr b="0">
                <a:solidFill>
                  <a:srgbClr val="475569"/>
                </a:solidFill>
              </a:rPr>
              <a:t>Feedback reports arrive months after the semester is already over.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No Educator Support: </a:t>
            </a:r>
            <a:r>
              <a:rPr b="0">
                <a:solidFill>
                  <a:srgbClr val="475569"/>
                </a:solidFill>
              </a:rPr>
              <a:t>Teachers receive no timely guidance to adjust their teaching style.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36192"/>
            <a:ext cx="73152" cy="3840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1064240" cy="6400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050" b="1">
                <a:solidFill>
                  <a:srgbClr val="E11D48"/>
                </a:solidFill>
                <a:latin typeface="Calibri"/>
              </a:defRPr>
            </a:pPr>
            <a:r>
              <a:t>CORE INSTITUTIONAL IMPACT: Without guaranteed voter privacy and real-time automation, feedback becomes a slow, expensive administrative formality rather than an instrument of academic excellence.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SYSTEM VISION &amp; VALUE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The Engineered Solution: Next-Gen Academic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69494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ARCHITECTURAL INNOVATION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5 Core Pillars of the Platform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100% Cryptographic Anonymity: </a:t>
            </a:r>
            <a:r>
              <a:rPr b="0">
                <a:solidFill>
                  <a:srgbClr val="475569"/>
                </a:solidFill>
              </a:rPr>
              <a:t>Decoupled architecture strictly separates student USN eligibility from rating records. De-anonymization is mathematically impossible.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Real-Time WebSocket Synchronization: </a:t>
            </a:r>
            <a:r>
              <a:rPr b="0">
                <a:solidFill>
                  <a:srgbClr val="475569"/>
                </a:solidFill>
              </a:rPr>
              <a:t>Socket.IO push engine gives HODs instant, live submission progress per section without exposing secret ballots.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SAGAR AI Academic Copilot: </a:t>
            </a:r>
            <a:r>
              <a:rPr b="0">
                <a:solidFill>
                  <a:srgbClr val="475569"/>
                </a:solidFill>
              </a:rPr>
              <a:t>Autonomous conversational agent powered by Groq LPUs for instant chart rendering, session control, and sentiment synthesis.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Frictionless Mobile Wizard: </a:t>
            </a:r>
            <a:r>
              <a:rPr b="0">
                <a:solidFill>
                  <a:srgbClr val="475569"/>
                </a:solidFill>
              </a:rPr>
              <a:t>Ultra-responsive touch-optimized UI designed for smartphones down to 360px viewports with multi-faculty carousels.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Automated Email Invitations: </a:t>
            </a:r>
            <a:r>
              <a:rPr b="0">
                <a:solidFill>
                  <a:srgbClr val="475569"/>
                </a:solidFill>
              </a:rPr>
              <a:t>Nodemailer SMTP integration dispatches branded, secure session links directly to student inboxes in one click.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1536192"/>
            <a:ext cx="3840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Guaranteed Voter Privacy</a:t>
            </a:r>
          </a:p>
          <a:p>
            <a:pPr algn="ctr"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Decoupled database voting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536192"/>
            <a:ext cx="3840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697480"/>
            <a:ext cx="3840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2600" b="1">
                <a:solidFill>
                  <a:srgbClr val="2563EB"/>
                </a:solidFill>
                <a:latin typeface="Segoe UI"/>
              </a:defRPr>
            </a:pPr>
            <a:r>
              <a:t>&lt; 5 Min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Turnaround Time</a:t>
            </a:r>
          </a:p>
          <a:p>
            <a:pPr algn="ctr"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From days of paperwork to instant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697480"/>
            <a:ext cx="3840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3858768"/>
            <a:ext cx="3840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2600" b="1">
                <a:solidFill>
                  <a:srgbClr val="EA580C"/>
                </a:solidFill>
                <a:latin typeface="Segoe UI"/>
              </a:defRPr>
            </a:pPr>
            <a:r>
              <a:t>95%+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Student Participation</a:t>
            </a:r>
          </a:p>
          <a:p>
            <a:pPr algn="ctr"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Mobile-first accessibility &amp; trust boost turnout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858768"/>
            <a:ext cx="38404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5010912"/>
            <a:ext cx="3840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2600" b="1">
                <a:solidFill>
                  <a:srgbClr val="7C3AED"/>
                </a:solidFill>
                <a:latin typeface="Segoe UI"/>
              </a:defRPr>
            </a:pPr>
            <a:r>
              <a:t>1-Click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NBA &amp; NAAC Reports</a:t>
            </a:r>
          </a:p>
          <a:p>
            <a:pPr algn="ctr"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Instant accredited CSV scorecard export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010912"/>
            <a:ext cx="3840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TECHNICAL STACK &amp; INFRASTRUCTURE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Enterprise Full-Stack Cloud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TIER 1: FRONTEND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Client Experience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React 19 &amp; Vite: </a:t>
            </a:r>
            <a:r>
              <a:rPr b="0">
                <a:solidFill>
                  <a:srgbClr val="475569"/>
                </a:solidFill>
              </a:rPr>
              <a:t>Modern component lifecycle, lightning-fast rendering.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Vanilla CSS System: </a:t>
            </a:r>
            <a:r>
              <a:rPr b="0">
                <a:solidFill>
                  <a:srgbClr val="475569"/>
                </a:solidFill>
              </a:rPr>
              <a:t>Tailored glassmorphism, responsive grid down to 360px.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Recharts Engine: </a:t>
            </a:r>
            <a:r>
              <a:rPr b="0">
                <a:solidFill>
                  <a:srgbClr val="475569"/>
                </a:solidFill>
              </a:rPr>
              <a:t>Interactive radar, bar, and performance distribution charts.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React Router v6: </a:t>
            </a:r>
            <a:r>
              <a:rPr b="0">
                <a:solidFill>
                  <a:srgbClr val="475569"/>
                </a:solidFill>
              </a:rPr>
              <a:t>Protected role-gated routes for students, faculty, HOD, and 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2" y="1536192"/>
            <a:ext cx="2606040" cy="45262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TIER 2: BACKEND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Application API Tier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Node.js &amp; Express: </a:t>
            </a:r>
            <a:r>
              <a:rPr b="0">
                <a:solidFill>
                  <a:srgbClr val="475569"/>
                </a:solidFill>
              </a:rPr>
              <a:t>Resilient REST API with strict security middleware.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Socket.IO Engine: </a:t>
            </a:r>
            <a:r>
              <a:rPr b="0">
                <a:solidFill>
                  <a:srgbClr val="475569"/>
                </a:solidFill>
              </a:rPr>
              <a:t>Bi-directional WebSocket server for live HOD progress push.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Knex.js ORM: </a:t>
            </a:r>
            <a:r>
              <a:rPr b="0">
                <a:solidFill>
                  <a:srgbClr val="475569"/>
                </a:solidFill>
              </a:rPr>
              <a:t>Connection pooling, parameterized queries, and ACID transactions.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Nodemailer SMTP: </a:t>
            </a:r>
            <a:r>
              <a:rPr b="0">
                <a:solidFill>
                  <a:srgbClr val="475569"/>
                </a:solidFill>
              </a:rPr>
              <a:t>Automated email invitation dispatch with secure session keys.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36192"/>
            <a:ext cx="73152" cy="4526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536192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TIER 3: DATABASE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Data &amp; Storage Tier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TiDB Cloud Serverless: </a:t>
            </a:r>
            <a:r>
              <a:rPr b="0">
                <a:solidFill>
                  <a:srgbClr val="475569"/>
                </a:solidFill>
              </a:rPr>
              <a:t>High-concurrency distributed MySQL 8.0 cluster.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Idempotency Store: </a:t>
            </a:r>
            <a:r>
              <a:rPr b="0">
                <a:solidFill>
                  <a:srgbClr val="475569"/>
                </a:solidFill>
              </a:rPr>
              <a:t>UUID single-use tokens preventing duplicate submissions.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Decoupled Feedback: </a:t>
            </a:r>
            <a:r>
              <a:rPr b="0">
                <a:solidFill>
                  <a:srgbClr val="475569"/>
                </a:solidFill>
              </a:rPr>
              <a:t>Foreign-key free ratings store ensuring vote privacy.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Cloudinary CDN: </a:t>
            </a:r>
            <a:r>
              <a:rPr b="0">
                <a:solidFill>
                  <a:srgbClr val="475569"/>
                </a:solidFill>
              </a:rPr>
              <a:t>Scalable media storage for verified faculty profile photos.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36192"/>
            <a:ext cx="73152" cy="45262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97696" y="1536192"/>
            <a:ext cx="2606040" cy="45262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7C3AED"/>
                </a:solidFill>
                <a:latin typeface="Segoe UI"/>
              </a:defRPr>
            </a:pPr>
            <a:r>
              <a:t>TIER 4: CLOUD &amp; AI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AI &amp; Edge Delivery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Groq Cloud LPUs: </a:t>
            </a:r>
            <a:r>
              <a:rPr b="0">
                <a:solidFill>
                  <a:srgbClr val="475569"/>
                </a:solidFill>
              </a:rPr>
              <a:t>Language Processing Units providing sub-400ms inference.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Function Calling: </a:t>
            </a:r>
            <a:r>
              <a:rPr b="0">
                <a:solidFill>
                  <a:srgbClr val="475569"/>
                </a:solidFill>
              </a:rPr>
              <a:t>Agentic schema executing real-time database actions.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Vercel Edge Network: </a:t>
            </a:r>
            <a:r>
              <a:rPr b="0">
                <a:solidFill>
                  <a:srgbClr val="475569"/>
                </a:solidFill>
              </a:rPr>
              <a:t>Global CDN delivering frontend assets with sub-50ms TTFB.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Render Web Service: </a:t>
            </a:r>
            <a:r>
              <a:rPr b="0">
                <a:solidFill>
                  <a:srgbClr val="475569"/>
                </a:solidFill>
              </a:rPr>
              <a:t>Auto-scaling Linux backend runtime with zero downtime.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536192"/>
            <a:ext cx="73152" cy="4526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SECURITY &amp; PRIVACY ARCHITECTURE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100% Cryptographic Student Anonymity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26060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19072"/>
            <a:ext cx="59436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USN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0552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Eligibility Validation
</a:t>
            </a:r>
            <a:r>
              <a:rPr>
                <a:solidFill>
                  <a:srgbClr val="475569"/>
                </a:solidFill>
              </a:rPr>
              <a:t>Student enters USN &amp; Session ID. System checks if student is enrolled in that semester &amp; section.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536192"/>
            <a:ext cx="26060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7872" y="1719072"/>
            <a:ext cx="59436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Idempotency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30552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Single-Use UUID
</a:t>
            </a:r>
            <a:r>
              <a:rPr>
                <a:solidFill>
                  <a:srgbClr val="475569"/>
                </a:solidFill>
              </a:rPr>
              <a:t>Backend generates a cryptographically random UUID token required for submission to prevent replay attacks.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6060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1719072"/>
            <a:ext cx="5943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Atomic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130552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Transactional Lock
</a:t>
            </a:r>
            <a:r>
              <a:rPr>
                <a:solidFill>
                  <a:srgbClr val="475569"/>
                </a:solidFill>
              </a:rPr>
              <a:t>Knex transaction marks student row: feedback_given='done' and records token. Student cannot vote twice.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536192"/>
            <a:ext cx="26060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719072"/>
            <a:ext cx="5943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Anonymous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130552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Decoupled Storage
</a:t>
            </a:r>
            <a:r>
              <a:rPr>
                <a:solidFill>
                  <a:srgbClr val="475569"/>
                </a:solidFill>
              </a:rPr>
              <a:t>Ratings are stored in global_student_feedback with faculty_id, course_id, and rating. NO USN or IP is saved!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06240"/>
            <a:ext cx="110642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ZERO-KNOWLEDGE VOTING GUARANTEE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0F172A"/>
                </a:solidFill>
              </a:rPr>
              <a:t>What the HOD / College Sees: </a:t>
            </a:r>
            <a:r>
              <a:rPr>
                <a:solidFill>
                  <a:srgbClr val="475569"/>
                </a:solidFill>
              </a:rPr>
              <a:t>HODs see real-time turnout (e.g., '48 of 60 students have completed the session'). They can see which USNs have completed, but have ZERO information on what ratings were submitted.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0F172A"/>
                </a:solidFill>
              </a:rPr>
              <a:t>What the Database Holds: </a:t>
            </a:r>
            <a:r>
              <a:rPr>
                <a:solidFill>
                  <a:srgbClr val="475569"/>
                </a:solidFill>
              </a:rPr>
              <a:t>The feedback table has zero foreign keys to student identities. It is mathematically impossible for anyone—including database administrators—to link an individual response to a student.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STUDENT EXPERIENCE &amp; UX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Frictionless Mobile-First Student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USER FLOW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Evaluation Wizard Workflow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Multi-Faculty Carousel: </a:t>
            </a:r>
            <a:r>
              <a:rPr b="0">
                <a:solidFill>
                  <a:srgbClr val="475569"/>
                </a:solidFill>
              </a:rPr>
              <a:t>Students evaluate each faculty member sequentially in a clean card layout, preventing cognitive fatigue.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Strict Client Validation: </a:t>
            </a:r>
            <a:r>
              <a:rPr b="0">
                <a:solidFill>
                  <a:srgbClr val="475569"/>
                </a:solidFill>
              </a:rPr>
              <a:t>Students cannot advance until all criteria for the active subject are evaluated, eliminating skipped fields.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Touch-Optimized Rating Scale: </a:t>
            </a:r>
            <a:r>
              <a:rPr b="0">
                <a:solidFill>
                  <a:srgbClr val="475569"/>
                </a:solidFill>
              </a:rPr>
              <a:t>Large, accessible 1 to 5 rating buttons optimized for rapid interaction on mobile touchscreens.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Department Remarks Box: </a:t>
            </a:r>
            <a:r>
              <a:rPr b="0">
                <a:solidFill>
                  <a:srgbClr val="475569"/>
                </a:solidFill>
              </a:rPr>
              <a:t>Optional open-ended qualitative remarks box for constructive input regarding college facilities, labs, and pacing.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Auto-Logout Safety: </a:t>
            </a:r>
            <a:r>
              <a:rPr b="0">
                <a:solidFill>
                  <a:srgbClr val="475569"/>
                </a:solidFill>
              </a:rPr>
              <a:t>Session credentials and tokens are destroyed immediately upon submission, preventing tampering on shared campus computers.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36192"/>
            <a:ext cx="5394960" cy="45262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EVALUATION MATRIX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4 Standardized Evaluation Criteria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1. Teaching Effectiveness: </a:t>
            </a:r>
            <a:r>
              <a:rPr b="0">
                <a:solidFill>
                  <a:srgbClr val="475569"/>
                </a:solidFill>
              </a:rPr>
              <a:t>Clarity of concept explanations, depth of subject knowledge, and utilization of real-world industry examples.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2. Communication Skills: </a:t>
            </a:r>
            <a:r>
              <a:rPr b="0">
                <a:solidFill>
                  <a:srgbClr val="475569"/>
                </a:solidFill>
              </a:rPr>
              <a:t>Articulation, language simplicity, delivery pacing (not too fast/slow), and encouragement of classroom discussion.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3. Assessment &amp; Feedback: </a:t>
            </a:r>
            <a:r>
              <a:rPr b="0">
                <a:solidFill>
                  <a:srgbClr val="475569"/>
                </a:solidFill>
              </a:rPr>
              <a:t>Fairness and transparency in internal marks evaluation, constructive feedback on tests, and adherence to syllabus timeline.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4. Availability &amp; Support: </a:t>
            </a:r>
            <a:r>
              <a:rPr b="0">
                <a:solidFill>
                  <a:srgbClr val="475569"/>
                </a:solidFill>
              </a:rPr>
              <a:t>Punctuality, availability during college hours, provision of study resources, and readiness to provide additional doubt clearing.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36192"/>
            <a:ext cx="73152" cy="4526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FACULTY INTELLIGENCE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Faculty Analytics Hub &amp; Accreditation Readiness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EDUCATOR CENTER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Personal Analytics &amp; Insights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Cumulative Rating Index: </a:t>
            </a:r>
            <a:r>
              <a:rPr b="0">
                <a:solidFill>
                  <a:srgbClr val="475569"/>
                </a:solidFill>
              </a:rPr>
              <a:t>Instant visibility into overall performance index (1.0 to 5.0) and total student feedback submissions.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Subject-Wise Breakdown: </a:t>
            </a:r>
            <a:r>
              <a:rPr b="0">
                <a:solidFill>
                  <a:srgbClr val="475569"/>
                </a:solidFill>
              </a:rPr>
              <a:t>Separate analytical cards for theory subjects and practical laboratory courses across sections.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Pedagogical Radar Visuals: </a:t>
            </a:r>
            <a:r>
              <a:rPr b="0">
                <a:solidFill>
                  <a:srgbClr val="475569"/>
                </a:solidFill>
              </a:rPr>
              <a:t>Recharts-powered radar charts pinpointing exact strengths (e.g. 4.8 in Subject Depth) vs development areas (e.g. 3.9 in Pace).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Question-by-Question Diagnostics: </a:t>
            </a:r>
            <a:r>
              <a:rPr b="0">
                <a:solidFill>
                  <a:srgbClr val="475569"/>
                </a:solidFill>
              </a:rPr>
              <a:t>Granular analysis across all 15 standardized evaluation parameters to support teacher growth.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Student Sentiment Digest: </a:t>
            </a:r>
            <a:r>
              <a:rPr b="0">
                <a:solidFill>
                  <a:srgbClr val="475569"/>
                </a:solidFill>
              </a:rPr>
              <a:t>Synthesized constructive remarks without exposing student identities or compromising confidentiality.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36192"/>
            <a:ext cx="5394960" cy="45262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7C3AED"/>
                </a:solidFill>
                <a:latin typeface="Segoe UI"/>
              </a:defRPr>
            </a:pPr>
            <a:r>
              <a:t>COMPLIANCE &amp; MENTORSHIP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Accreditation &amp; Administrative Alignment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NBA Criteria 10 Compliance: </a:t>
            </a:r>
            <a:r>
              <a:rPr b="0">
                <a:solidFill>
                  <a:srgbClr val="475569"/>
                </a:solidFill>
              </a:rPr>
              <a:t>Pre-calculated teaching performance metrics formatted for NBA Self-Assessment Reports (SAR).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NAAC Criteria 2 Alignment: </a:t>
            </a:r>
            <a:r>
              <a:rPr b="0">
                <a:solidFill>
                  <a:srgbClr val="475569"/>
                </a:solidFill>
              </a:rPr>
              <a:t>Quantified student satisfaction metrics ready for Internal Quality Assurance Cell (IQAC) presentations.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Confidential HOD Guidance Notes: </a:t>
            </a:r>
            <a:r>
              <a:rPr b="0">
                <a:solidFill>
                  <a:srgbClr val="475569"/>
                </a:solidFill>
              </a:rPr>
              <a:t>Direct, encrypted communication channel where HODs leave constructive mentoring notes on a faculty portal.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Verified Profile Management: </a:t>
            </a:r>
            <a:r>
              <a:rPr b="0">
                <a:solidFill>
                  <a:srgbClr val="475569"/>
                </a:solidFill>
              </a:rPr>
              <a:t>Cloudinary CDN integration supporting high-definition professional profile photographs.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Self-Registration Queue: </a:t>
            </a:r>
            <a:r>
              <a:rPr b="0">
                <a:solidFill>
                  <a:srgbClr val="475569"/>
                </a:solidFill>
              </a:rPr>
              <a:t>Faculty sign-up portal with HOD approval safeguard to preserve department roster integrity.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36192"/>
            <a:ext cx="73152" cy="4526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DEPARTMENT GOVERNANCE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Department Head (HOD) Operations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34747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OPERATIONS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Session Orchestration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Rapid Session Setup: </a:t>
            </a:r>
            <a:r>
              <a:rPr b="0">
                <a:solidFill>
                  <a:srgbClr val="475569"/>
                </a:solidFill>
              </a:rPr>
              <a:t>Create feedback sessions by semester and section in seconds with auto-generated session keys.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Automated Email Alerts: </a:t>
            </a:r>
            <a:r>
              <a:rPr b="0">
                <a:solidFill>
                  <a:srgbClr val="475569"/>
                </a:solidFill>
              </a:rPr>
              <a:t>Nodemailer integration dispatches direct session links to student emails with one click.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Session Lifecycle: </a:t>
            </a:r>
            <a:r>
              <a:rPr b="0">
                <a:solidFill>
                  <a:srgbClr val="475569"/>
                </a:solidFill>
              </a:rPr>
              <a:t>HOD can pause, end, or archive feedback sessions on demand.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Turnout Enforcement: </a:t>
            </a:r>
            <a:r>
              <a:rPr b="0">
                <a:solidFill>
                  <a:srgbClr val="475569"/>
                </a:solidFill>
              </a:rPr>
              <a:t>Identify non-participating cohorts and issue reminder dispatches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536192"/>
            <a:ext cx="3474720" cy="45262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LIVE SYNC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Real-Time Live Monitor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Socket.IO Live Push: </a:t>
            </a:r>
            <a:r>
              <a:rPr b="0">
                <a:solidFill>
                  <a:srgbClr val="475569"/>
                </a:solidFill>
              </a:rPr>
              <a:t>Watch real-time submission progress bar fill up as students vote in computer labs.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Turnout Telemetry: </a:t>
            </a:r>
            <a:r>
              <a:rPr b="0">
                <a:solidFill>
                  <a:srgbClr val="475569"/>
                </a:solidFill>
              </a:rPr>
              <a:t>Instant metrics on completed vs. pending students per section.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Non-Intrusive Monitoring: </a:t>
            </a:r>
            <a:r>
              <a:rPr b="0">
                <a:solidFill>
                  <a:srgbClr val="475569"/>
                </a:solidFill>
              </a:rPr>
              <a:t>Track participation numbers without accessing secret ballot data.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Session Audit History: </a:t>
            </a:r>
            <a:r>
              <a:rPr b="0">
                <a:solidFill>
                  <a:srgbClr val="475569"/>
                </a:solidFill>
              </a:rPr>
              <a:t>Permanent record of when sessions started, ended, and total votes collected.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36192"/>
            <a:ext cx="73152" cy="4526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536192"/>
            <a:ext cx="34747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ADMINISTRATION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Roster &amp; Curriculum Control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Bulk Excel/CSV Upload: </a:t>
            </a:r>
            <a:r>
              <a:rPr b="0">
                <a:solidFill>
                  <a:srgbClr val="475569"/>
                </a:solidFill>
              </a:rPr>
              <a:t>Import student rosters, faculty directories, and course catalogs in seconds.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Dynamic Subject Mapping: </a:t>
            </a:r>
            <a:r>
              <a:rPr b="0">
                <a:solidFill>
                  <a:srgbClr val="475569"/>
                </a:solidFill>
              </a:rPr>
              <a:t>Assign faculty to specific sections, semesters, and lab batches via interactive tables.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Custom Question Banks: </a:t>
            </a:r>
            <a:r>
              <a:rPr b="0">
                <a:solidFill>
                  <a:srgbClr val="475569"/>
                </a:solidFill>
              </a:rPr>
              <a:t>Add, edit, or re-order departmental feedback questions and categories.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Executive Sentiment Reports: </a:t>
            </a:r>
            <a:r>
              <a:rPr b="0">
                <a:solidFill>
                  <a:srgbClr val="475569"/>
                </a:solidFill>
              </a:rPr>
              <a:t>Groq AI extracts key strengths and lab improvement needs from student remarks.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36192"/>
            <a:ext cx="73152" cy="45262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GROQ-POWERED AI INNOVATION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⭐ SAGAR AI — Autonomous Academic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5303520" cy="45262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7C3AED"/>
                </a:solidFill>
                <a:latin typeface="Segoe UI"/>
              </a:defRPr>
            </a:pPr>
            <a:r>
              <a:t>COPILOT CAPABILITIES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Agentic Architecture &amp; Tool Calling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Groq Cloud LPUs: </a:t>
            </a:r>
            <a:r>
              <a:rPr b="0">
                <a:solidFill>
                  <a:srgbClr val="475569"/>
                </a:solidFill>
              </a:rPr>
              <a:t>Ultra-low-latency inference engine delivering conversational answers in under 400 milliseconds.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Autonomous Dashboard Navigation: </a:t>
            </a:r>
            <a:r>
              <a:rPr b="0">
                <a:solidFill>
                  <a:srgbClr val="475569"/>
                </a:solidFill>
              </a:rPr>
              <a:t>Natural language instructions ('Take me to student management') automatically redirect the HOD UI.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In-Chat Dynamic Charting: </a:t>
            </a:r>
            <a:r>
              <a:rPr b="0">
                <a:solidFill>
                  <a:srgbClr val="475569"/>
                </a:solidFill>
              </a:rPr>
              <a:t>Prompts like 'Show me Sem 6 performance trends' render interactive Recharts directly inside the conversation.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One-Click Approvals: </a:t>
            </a:r>
            <a:r>
              <a:rPr b="0">
                <a:solidFill>
                  <a:srgbClr val="475569"/>
                </a:solidFill>
              </a:rPr>
              <a:t>Prompts like 'Show pending faculty' render interactive approval cards inside chat.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Conversational Session Creation: </a:t>
            </a:r>
            <a:r>
              <a:rPr b="0">
                <a:solidFill>
                  <a:srgbClr val="475569"/>
                </a:solidFill>
              </a:rPr>
              <a:t>Validates semester and section criteria and opens pre-filled session setup modals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36192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SAFETY &amp; SYNTHESIS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Academic Intelligence &amp; Guardrails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Qualitative Remark Synthesis: </a:t>
            </a:r>
            <a:r>
              <a:rPr b="0">
                <a:solidFill>
                  <a:srgbClr val="475569"/>
                </a:solidFill>
              </a:rPr>
              <a:t>Ingests thousands of open-ended student comments to synthesize core strengths, concerns, and action items.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Instant Departmental Reports: </a:t>
            </a:r>
            <a:r>
              <a:rPr b="0">
                <a:solidFill>
                  <a:srgbClr val="475569"/>
                </a:solidFill>
              </a:rPr>
              <a:t>Prompts like 'Generate department report' compile full accredited CSV files for instant download.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Top-Performer Discovery: </a:t>
            </a:r>
            <a:r>
              <a:rPr b="0">
                <a:solidFill>
                  <a:srgbClr val="475569"/>
                </a:solidFill>
              </a:rPr>
              <a:t>Instantly queries the database to surface top-rated educators across subjects and semesters.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Strict Identity Isolation: </a:t>
            </a:r>
            <a:r>
              <a:rPr b="0">
                <a:solidFill>
                  <a:srgbClr val="475569"/>
                </a:solidFill>
              </a:rPr>
              <a:t>Student USNs are excluded from AI model context; the LLM processes purely aggregated, anonymous data.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Human-in-the-Loop Safeguards: </a:t>
            </a:r>
            <a:r>
              <a:rPr b="0">
                <a:solidFill>
                  <a:srgbClr val="475569"/>
                </a:solidFill>
              </a:rPr>
              <a:t>Destructive actions (creating sessions, deleting entries) require explicit user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36192"/>
            <a:ext cx="73152" cy="4526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ADMINISTRATIVE GOVERNANCE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Institutional Super Admin &amp; Enterprise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INSTITUTIONAL ADMINISTRATION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Multi-Department Governance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Institution-Wide Oversight: </a:t>
            </a:r>
            <a:r>
              <a:rPr b="0">
                <a:solidFill>
                  <a:srgbClr val="475569"/>
                </a:solidFill>
              </a:rPr>
              <a:t>Centralized administration spanning CSE, ISE, ECE, ME, CV, AIML, AIDS, and allied branches.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Cross-Department Benchmarking: </a:t>
            </a:r>
            <a:r>
              <a:rPr b="0">
                <a:solidFill>
                  <a:srgbClr val="475569"/>
                </a:solidFill>
              </a:rPr>
              <a:t>Comparative performance analytics enabling Principals and Deans to benchmark academic satisfaction.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Department Lifecycle Controls: </a:t>
            </a:r>
            <a:r>
              <a:rPr b="0">
                <a:solidFill>
                  <a:srgbClr val="475569"/>
                </a:solidFill>
              </a:rPr>
              <a:t>Create, activate, deactivate, or reset credentials for any academic department.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Global Directory Maintenance: </a:t>
            </a:r>
            <a:r>
              <a:rPr b="0">
                <a:solidFill>
                  <a:srgbClr val="475569"/>
                </a:solidFill>
              </a:rPr>
              <a:t>Central index of all active students and faculty across Maharaja Institute of Technology Mysore.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Cluster Health Telemetry: </a:t>
            </a:r>
            <a:r>
              <a:rPr b="0">
                <a:solidFill>
                  <a:srgbClr val="475569"/>
                </a:solidFill>
              </a:rPr>
              <a:t>Real-time monitoring of TiDB database connection pool, API response times, and session health.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36192"/>
            <a:ext cx="5394960" cy="45262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SECURITY HARDENING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Enterprise Defense-in-Depth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HTTP-Only SameSite-Strict Cookies: </a:t>
            </a:r>
            <a:r>
              <a:rPr b="0">
                <a:solidFill>
                  <a:srgbClr val="475569"/>
                </a:solidFill>
              </a:rPr>
              <a:t>Protects authenticated sessions against Cross-Site Scripting (XSS) and CSRF token interception.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Bcrypt Cryptographic Hashing: </a:t>
            </a:r>
            <a:r>
              <a:rPr b="0">
                <a:solidFill>
                  <a:srgbClr val="475569"/>
                </a:solidFill>
              </a:rPr>
              <a:t>10-round salted password hashing for all administrative, HOD, and faculty accounts.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Knex Parameterized Queries: </a:t>
            </a:r>
            <a:r>
              <a:rPr b="0">
                <a:solidFill>
                  <a:srgbClr val="475569"/>
                </a:solidFill>
              </a:rPr>
              <a:t>Prepared SQL statements eliminate SQL injection vulnerabilities completely.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Express Rate-Limiting: </a:t>
            </a:r>
            <a:r>
              <a:rPr b="0">
                <a:solidFill>
                  <a:srgbClr val="475569"/>
                </a:solidFill>
              </a:rPr>
              <a:t>Guards authentication and feedback endpoints against automated brute-force attacks.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Immutable Security Audit Logging: </a:t>
            </a:r>
            <a:r>
              <a:rPr b="0">
                <a:solidFill>
                  <a:srgbClr val="475569"/>
                </a:solidFill>
              </a:rPr>
              <a:t>Every login, roster modification, and session event is permanently logged with IP &amp; device fingerprints.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36192"/>
            <a:ext cx="73152" cy="4526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ACCREDITATION &amp; QUALITY ASSURANCE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Accreditation Impact: NBA &amp; NAAC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5303520" cy="4526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NBA CRITERIA 10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NBA Alignment (Criteria 10)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Continuous Improvement Process: </a:t>
            </a:r>
            <a:r>
              <a:rPr b="0">
                <a:solidFill>
                  <a:srgbClr val="475569"/>
                </a:solidFill>
              </a:rPr>
              <a:t>Provides verified longitudinal data on pedagogical effectiveness and curriculum delivery.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Course Outcome (CO) Feedback: </a:t>
            </a:r>
            <a:r>
              <a:rPr b="0">
                <a:solidFill>
                  <a:srgbClr val="475569"/>
                </a:solidFill>
              </a:rPr>
              <a:t>Direct mapping of student feedback to individual courses and practical laboratory outcomes.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Instant SAR Documentation: </a:t>
            </a:r>
            <a:r>
              <a:rPr b="0">
                <a:solidFill>
                  <a:srgbClr val="475569"/>
                </a:solidFill>
              </a:rPr>
              <a:t>Generates pre-formatted metric tables ready for inclusion in NBA Self-Assessment Reports (SAR).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Targeted Faculty Development: </a:t>
            </a:r>
            <a:r>
              <a:rPr b="0">
                <a:solidFill>
                  <a:srgbClr val="475569"/>
                </a:solidFill>
              </a:rPr>
              <a:t>Identifies specific areas where junior educators can benefit from Faculty Development Programs (FDPs).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Elimination of Calculation Errors: </a:t>
            </a:r>
            <a:r>
              <a:rPr b="0">
                <a:solidFill>
                  <a:srgbClr val="475569"/>
                </a:solidFill>
              </a:rPr>
              <a:t>Automated algorithmic aggregation removes spreadsheet formula errors during accreditation audits.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73152" cy="45262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36192"/>
            <a:ext cx="5394960" cy="45262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164592"/>
          <a:lstStyle/>
          <a:p>
            <a:pPr algn="ctr">
              <a:defRPr sz="900" b="1">
                <a:solidFill>
                  <a:srgbClr val="7C3AED"/>
                </a:solidFill>
                <a:latin typeface="Segoe UI"/>
              </a:defRPr>
            </a:pPr>
            <a:r>
              <a:t>NAAC CRITERIA 1 &amp; 2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NAAC Alignment (Criteria 1 &amp; 2)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Curriculum Design &amp; Review (Criteria 1): </a:t>
            </a:r>
            <a:r>
              <a:rPr b="0">
                <a:solidFill>
                  <a:srgbClr val="475569"/>
                </a:solidFill>
              </a:rPr>
              <a:t>Qualitative remarks synthesize student perspectives on syllabus relevance, lab infrastructure, and industry readiness.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Teaching-Learning Process (Criteria 2): </a:t>
            </a:r>
            <a:r>
              <a:rPr b="0">
                <a:solidFill>
                  <a:srgbClr val="475569"/>
                </a:solidFill>
              </a:rPr>
              <a:t>Quantifies student satisfaction regarding concept clarity, assessment fairness, and faculty accessibility.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Verifiable Audit Trail: </a:t>
            </a:r>
            <a:r>
              <a:rPr b="0">
                <a:solidFill>
                  <a:srgbClr val="475569"/>
                </a:solidFill>
              </a:rPr>
              <a:t>Immutable system logs provide accreditation committees with tamper-proof evidence of authentic student feedback collection.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Action-Taken Reporting (ATR): </a:t>
            </a:r>
            <a:r>
              <a:rPr b="0">
                <a:solidFill>
                  <a:srgbClr val="475569"/>
                </a:solidFill>
              </a:rPr>
              <a:t>Pre-synthesized AI summaries provide instant inputs for Internal Quality Assurance Cell (IQAC) meetings.</a:t>
            </a:r>
          </a:p>
          <a:p>
            <a:pPr>
              <a:spcAft>
                <a:spcPts val="500"/>
              </a:spcAft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Transparent Governance: </a:t>
            </a:r>
            <a:r>
              <a:rPr b="0">
                <a:solidFill>
                  <a:srgbClr val="475569"/>
                </a:solidFill>
              </a:rPr>
              <a:t>Fosters an open, trustworthy institutional culture that strengthens college rating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36192"/>
            <a:ext cx="73152" cy="4526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SYSTEM WALKTHROUGH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Demonstration: End-to-End Operational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19072"/>
            <a:ext cx="59436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Session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0552"/>
            <a:ext cx="22402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HOD Configures Session
</a:t>
            </a:r>
            <a:r>
              <a:rPr>
                <a:solidFill>
                  <a:srgbClr val="475569"/>
                </a:solidFill>
              </a:rPr>
              <a:t>• HOD selects Sem 6, Section A.
• System generates session key.
• Automated email invitation is sent to enrolled students via Nodemailer in one click.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536192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7872" y="1719072"/>
            <a:ext cx="5943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Student Voting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30552"/>
            <a:ext cx="22402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Anonymous Evaluation
</a:t>
            </a:r>
            <a:r>
              <a:rPr>
                <a:solidFill>
                  <a:srgbClr val="475569"/>
                </a:solidFill>
              </a:rPr>
              <a:t>• Student logs in on mobile via USN.
• Evaluates teachers across 4 criteria on a 1-5 touch matrix.
• Single-use idempotency token ensures one submission per student.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536192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1719072"/>
            <a:ext cx="59436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Live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130552"/>
            <a:ext cx="22402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Real-Time WebSockets
</a:t>
            </a:r>
            <a:r>
              <a:rPr>
                <a:solidFill>
                  <a:srgbClr val="475569"/>
                </a:solidFill>
              </a:rPr>
              <a:t>• Socket.IO instantly pushes submission counter to HOD dashboard.
• Live turnout updates without screen refresh.
• Student row marked 'done' with zero vote linking.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536192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719072"/>
            <a:ext cx="5943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17007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AI &amp;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130552"/>
            <a:ext cx="22402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Instant Intelligence
</a:t>
            </a:r>
            <a:r>
              <a:rPr>
                <a:solidFill>
                  <a:srgbClr val="475569"/>
                </a:solidFill>
              </a:rPr>
              <a:t>• SAGAR AI synthesizes remarks and highlights key departmental trends.
• Faculty receives updated radar scorecards.
• One-click accredited CSV report export.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QUANTIFIABLE COMPARISON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Performance Metrics &amp; Institutional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36192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41148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Legacy Manual System (Paper / Form)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Our Platform (MIT Mysore)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 Consumption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~12,000 sheets per semester across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0 Sheets (100% Digital &amp; Eco-Friendly)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Turnaround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3 to 4 Weeks of manual tabulation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Instant (Under 5 Minutes from session close)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Student Anonymity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Compromised / Fear of mark retaliation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100% Cryptographically Decoupled Secrecy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Student Turnout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55% – 65% due to paper fatigue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95%+ via Mobile Wizard &amp; Email Dispatch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Accreditation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Days of stressful manual spreadsheet collation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Instant 1-Click NBA &amp; NAAC CSV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559552"/>
            <a:ext cx="11064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28016"/>
          <a:lstStyle/>
          <a:p>
            <a:pPr algn="ctr">
              <a:defRPr sz="1050" b="1">
                <a:solidFill>
                  <a:srgbClr val="2563EB"/>
                </a:solidFill>
                <a:latin typeface="Calibri"/>
              </a:defRPr>
            </a:pPr>
            <a:r>
              <a:t>FUTURE ROADMAP: College ERP timetable auto-synchronization, predictive sentiment alerts for mid-term intervention, and TOTP-based Multi-Factor Authentication (MFA).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960120" cy="960120"/>
          </a:xfrm>
          <a:prstGeom prst="rect">
            <a:avLst/>
          </a:prstGeom>
        </p:spPr>
      </p:pic>
      <p:pic>
        <p:nvPicPr>
          <p:cNvPr id="5" name="Picture 4" descr="bran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56032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PRESENTATION CONCLUSION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Conclusion &amp; Open Floor for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1672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Student Feedback &amp; Academic Intelligence Platform   •   Presenter: Suhas J (Dept. of CSE, MIT Mysore)   •   mitmysore.vercel.app   •   Slide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91640"/>
            <a:ext cx="999713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20040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MAHARAJA INSTITUTE OF TECHNOLOGY MYSORE</a:t>
            </a:r>
          </a:p>
          <a:p>
            <a:pPr algn="ctr">
              <a:spcBef>
                <a:spcPts val="600"/>
              </a:spcBef>
              <a:defRPr sz="3600" b="1">
                <a:solidFill>
                  <a:srgbClr val="0F172A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250">
                <a:solidFill>
                  <a:srgbClr val="475569"/>
                </a:solidFill>
                <a:latin typeface="Calibri"/>
              </a:defRPr>
            </a:pPr>
            <a:r>
              <a:t>The MIT Mysore Student Feedback &amp; Academic Intelligence Platform demonstrates how full-stack cloud engineering, real-time WebSockets, and modern AI can empower colleges with uncompromising privacy, transparency, and actionable pedagogical intelligence.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069080"/>
            <a:ext cx="8168335" cy="1463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Presenter:  SUHAS J</a:t>
            </a:r>
          </a:p>
          <a:p>
            <a:pPr algn="ctr"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Department of Computer Science &amp; Engineering   |   Maharaja Institute of Technology Mysore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Live Deployment: https://mitmysore.vercel.app   •   Questions &amp; Technical Viva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